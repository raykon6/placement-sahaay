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50ff283-0009-e38d-8ae2-c1e021e03d11}">
          <p14:sldIdLst>
            <p14:sldId id="256"/>
            <p14:sldId id="257"/>
            <p14:sldId id="258"/>
          </p14:sldIdLst>
        </p14:section>
        <p14:section name="Solution" id="{2b41fa28-2928-c713-e652-6db042629e25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echnology" id="{8ac8b8b0-6a2a-fed1-8cbf-754a5ae058ff}">
          <p14:sldIdLst>
            <p14:sldId id="265"/>
          </p14:sldIdLst>
        </p14:section>
        <p14:section name="Security" id="{78170bbd-4689-2c27-9f86-54d032e41a2c}">
          <p14:sldIdLst>
            <p14:sldId id="266"/>
            <p14:sldId id="267"/>
            <p14:sldId id="268"/>
            <p14:sldId id="269"/>
          </p14:sldIdLst>
        </p14:section>
        <p14:section name="Results" id="{1f01bd75-e1f7-46c0-b5ee-f08f77765a80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333"/>
                </a:solidFill>
                <a:latin typeface="+mn-lt"/>
              </a:rPr>
              <a:t>Tests by area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0021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End-to-end workflows</c:v>
                  </c:pt>
                  <c:pt idx="1">
                    <c:v>Policy engine</c:v>
                  </c:pt>
                  <c:pt idx="2">
                    <c:v>Security and attack resistance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34</c:v>
                </c:pt>
                <c:pt idx="2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Placement Sahaay is a working prototype for Problem Statement 2: a secure, policy-driven placement management system for NFSU's five computing programmes. In the next few minutes: the problem, why it matters, how the rule engine works, the technology and security design, and the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the Placement Cell works from spreadsheets. Four problems follow: records are scattered and overwritten; complex rules are applied manually; sensitive contact and compensation data is unprotected; and the resulting statistics cannot be trusted or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space is large: five programmes, four categories, three offer types, attendance debarment and acceptance deadlines. Students also process personal contact and salary data, so privacy and integrity are requirements, not extras.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Placement Sahaay has five parts: the student register, the policy engine, offer management, reporting, and security controls that run through all of them. The screenshot is the live dashboard on demonstration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category table and offer-type restrictions come straight from the problem statement. Boundaries are inclusive at the lower end: 16.0 LPA is A+. Every threshold is an administrator setting, and changes are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check runs and reports, even after a failure, so the explanation is complete. The worst outcome wins. The engine also detects a real conflict in the guidelines — F to F upgrades — and routes it to manual review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simulator for a real demo student. The same engine runs when a student clicks Apply, when an officer registers a student, and when an offer is entered. The explanation is identical in every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interface follows the NFSU website: navy utility bar, white masthead, navy page banners and gold accents, with Poppins headings. It is accessible: visible focus, keyboard navigation, labelled forms, and it works on phones. Every role also has a built-in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follows the workflow suggested in the problem statement. Each step has a responsible role, and every step writes to the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deliberately small: fewer dependencies means a smaller attack surface and easier review. The policy engine is a pure function, which makes it deterministic and easy to test. SQLite keeps the prototype self-contained; the SQL is portable to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maps each security area in the problem statement to what we built. Highlights: contact data is encrypted with AES-GCM and bound to its record, so ciphertext cannot be swapped; sessions are server-side and revocable; and the audit log is a keyed hash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statement's security challenge, answered attack by attack. Each of these is an automated test in the suite, so the protection cannot silently regress.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audit entry includes the actor, time, action and before/after values. Its MAC covers the previous hash, so tampering anywhere is detected by the Verify integrity button. Our tests drop the trigger, edit row 5 and confirm the verifier pinpoints entry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Permissions are checked on the server for every request, then narrowed again by scope: coordinators see only their programme, recruiters only their own applicants, students only themselves. Denied attempts are written to the audit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suite runs in under ten seconds. Policy tests cover every boundary, including 11.25 versus 11.24 LPA for the B-category multiplier. Security tests exercise real attacks against the running application, not mocks.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impact is practical: fewer errors, faster decisions, fewer disputes, protected student data, and statistics the university can stand behind in accreditation and rankings submissions.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explicit about what a prototype does not yet do, and about the path to production. None of the next steps change the design; they replace components with institution-grade equivalents.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summarise: Placement Sahaay applies the 2026–27 guidelines consistently and explains every decision, while keeping student data confidential and every change accountable. Thank you — we are happy to take questions or run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DARK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>
              <a:alpha val="88000"/>
            </a:srgbClr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417320"/>
            <a:ext cx="10241280" cy="1874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42900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Placement Sahaay  ·  Student Placement Cell, NFSU Gandhinagar  ·  2026–27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FSU emblem" descr="National Forensic Sciences University em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1143000" cy="114300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417320"/>
            <a:ext cx="10241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Sahaay</a:t>
            </a: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4290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Secure, policy-driven placement management for the Student Placement Cell, NFSU Gandhinagar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B55E"/>
                </a:solidFill>
              </a:rPr>
              <a:t>Problem Statement 2  ·  ISFCR Hackathon  ·  2026–27 placement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records are managed by hand today</a:t>
            </a:r>
            <a:endParaRPr lang="en-US" sz="3200" dirty="0"/>
          </a:p>
        </p:txBody>
      </p:sp>
      <p:sp>
        <p:nvSpPr>
          <p:cNvPr id="4" name="Problem card 01"/>
          <p:cNvSpPr/>
          <p:nvPr/>
        </p:nvSpPr>
        <p:spPr>
          <a:xfrm>
            <a:off x="548640" y="1600200"/>
            <a:ext cx="544068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Scattered records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Student data, offers and attendance live in spreadsheets and email threads, with history overwritten on every update.</a:t>
            </a:r>
            <a:endParaRPr lang="en-US" sz="1400" dirty="0"/>
          </a:p>
        </p:txBody>
      </p:sp>
      <p:sp>
        <p:nvSpPr>
          <p:cNvPr id="8" name="Problem card 02"/>
          <p:cNvSpPr/>
          <p:nvPr/>
        </p:nvSpPr>
        <p:spPr>
          <a:xfrm>
            <a:off x="6172200" y="1600200"/>
            <a:ext cx="544068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40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Rules applied manually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Category switching, I / F / I+F limits and debarment are checked by memory, inconsistently, under deadline pressure.</a:t>
            </a:r>
            <a:endParaRPr lang="en-US" sz="1400" dirty="0"/>
          </a:p>
        </p:txBody>
      </p:sp>
      <p:sp>
        <p:nvSpPr>
          <p:cNvPr id="12" name="Problem card 03"/>
          <p:cNvSpPr/>
          <p:nvPr/>
        </p:nvSpPr>
        <p:spPr>
          <a:xfrm>
            <a:off x="548640" y="3886200"/>
            <a:ext cx="544068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160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526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Sensitive data exposed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83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Phone numbers and salary figures are shared in files with no access control, no encryption and no record of who saw them.</a:t>
            </a:r>
            <a:endParaRPr lang="en-US" sz="1400" dirty="0"/>
          </a:p>
        </p:txBody>
      </p:sp>
      <p:sp>
        <p:nvSpPr>
          <p:cNvPr id="16" name="Problem card 04"/>
          <p:cNvSpPr/>
          <p:nvPr/>
        </p:nvSpPr>
        <p:spPr>
          <a:xfrm>
            <a:off x="6172200" y="3886200"/>
            <a:ext cx="544068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4160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526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Statistics you cannot trust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983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Offers are counted as placements, stipends are mixed with CTC, and nobody can prove a figure was not edited.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THE NEED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rule, for every student, for every drive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programmes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M.Tech. CS, M.Tech. AIDS, B.Tech.–M.Tech. CSE, M.Sc. CS, M.Sc. DFIS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364992" y="16916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3364992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company categories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30632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A+, A, B and C, each with its own switching rule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81344" y="16916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181344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offer types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181344" y="30632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Internship, FTE and Internship + PPO/FTE restrictions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997696" y="16916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8997696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 accept an offer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997696" y="30632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or the company's timeline, whichever is earlier</a:t>
            </a:r>
            <a:endParaRPr lang="en-US" sz="1300" dirty="0"/>
          </a:p>
        </p:txBody>
      </p:sp>
      <p:sp>
        <p:nvSpPr>
          <p:cNvPr id="16" name="Need statement"/>
          <p:cNvSpPr/>
          <p:nvPr/>
        </p:nvSpPr>
        <p:spPr>
          <a:xfrm>
            <a:off x="548640" y="4343400"/>
            <a:ext cx="11064240" cy="1600200"/>
          </a:xfrm>
          <a:prstGeom prst="rect">
            <a:avLst/>
          </a:prstGeom>
          <a:solidFill>
            <a:schemeClr val="bg2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6177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the Placement Cell needs: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system of record that applies the 2026–27 guidelines automatically, explains every decision, keeps contact and salary data confidential, and produces statistics that can be audited — while leaving exceptions and discipline to the Placement Cell.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Sahaay at a glance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Student register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93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Search, filter, import and archive records; offer history is never overwritten.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963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Policy rule engine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254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Seven explainable rules decide allow, review or block for every drive.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924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Offer management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21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I, F and I+F offers, PPOs, off-campus NOCs, deadlines and joining.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885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Dashboards and reports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17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Course- and batch-wise outcomes; unique students separated from offers.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84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Security by design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138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MFA, RBAC, encryption, hash-chained audit and controlled export.</a:t>
            </a:r>
            <a:endParaRPr lang="en-US" sz="1300" dirty="0"/>
          </a:p>
        </p:txBody>
      </p:sp>
      <p:sp>
        <p:nvSpPr>
          <p:cNvPr id="14" name="Dashboard screenshot frame"/>
          <p:cNvSpPr/>
          <p:nvPr/>
        </p:nvSpPr>
        <p:spPr>
          <a:xfrm>
            <a:off x="5239512" y="1581912"/>
            <a:ext cx="6391656" cy="4008501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pic>
        <p:nvPicPr>
          <p:cNvPr id="15" name="Dashboard screenshot" descr="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600200"/>
            <a:ext cx="6355080" cy="397192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257800" y="5650992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University dashboard, demo data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POLICY LOGIC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guidelines, encoded as configurable rules</a:t>
            </a:r>
            <a:endParaRPr lang="en-US" sz="3200" dirty="0"/>
          </a:p>
        </p:txBody>
      </p:sp>
      <p:graphicFrame>
        <p:nvGraphicFramePr>
          <p:cNvPr id="6" name="Catego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3840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CTC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Switching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₹16 LPA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switching — selected students exit the process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₹10–16 LPA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switch only to A+ companies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₹6–10 LPA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package must be ≥ 1.5× the current 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₹6 LPA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 for higher-category opportunities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Offer typ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600200"/>
          <a:ext cx="43434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from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Internship (I)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Another internship-only 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 (F)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Another FTE-only 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I+F or PPO accepted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I, F or I+F role at another organisation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onfiguration note"/>
          <p:cNvSpPr/>
          <p:nvPr/>
        </p:nvSpPr>
        <p:spPr>
          <a:xfrm>
            <a:off x="548640" y="4343400"/>
            <a:ext cx="11064240" cy="1600200"/>
          </a:xfrm>
          <a:prstGeom prst="rect">
            <a:avLst/>
          </a:prstGeom>
          <a:solidFill>
            <a:schemeClr val="bg2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8680" y="46177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Configurable, not hard-coded.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Thresholds, the 1.5× multiplier, the three-drive debarment, the 24-hour window and conflict handling are policy settings. Changes need a guideline reference and are audited with before and after values.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RULE ENGINE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checks, one explained decision</a:t>
            </a:r>
            <a:endParaRPr lang="en-US" sz="3200" dirty="0"/>
          </a:p>
        </p:txBody>
      </p:sp>
      <p:sp>
        <p:nvSpPr>
          <p:cNvPr id="4" name="Rule R1"/>
          <p:cNvSpPr/>
          <p:nvPr/>
        </p:nvSpPr>
        <p:spPr>
          <a:xfrm>
            <a:off x="548640" y="1691640"/>
            <a:ext cx="146304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214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Record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700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active, not archived</a:t>
            </a:r>
            <a:endParaRPr lang="en-US" sz="1200" dirty="0"/>
          </a:p>
        </p:txBody>
      </p:sp>
      <p:sp>
        <p:nvSpPr>
          <p:cNvPr id="8" name="Rule R2"/>
          <p:cNvSpPr/>
          <p:nvPr/>
        </p:nvSpPr>
        <p:spPr>
          <a:xfrm>
            <a:off x="2148840" y="1691640"/>
            <a:ext cx="146304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21214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Registration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6700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registered for 2026–27</a:t>
            </a:r>
            <a:endParaRPr lang="en-US" sz="1200" dirty="0"/>
          </a:p>
        </p:txBody>
      </p:sp>
      <p:sp>
        <p:nvSpPr>
          <p:cNvPr id="12" name="Rule R3"/>
          <p:cNvSpPr/>
          <p:nvPr/>
        </p:nvSpPr>
        <p:spPr>
          <a:xfrm>
            <a:off x="3749040" y="1691640"/>
            <a:ext cx="146304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8620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21214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Eligibility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26700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verified by coordinator</a:t>
            </a:r>
            <a:endParaRPr lang="en-US" sz="1200" dirty="0"/>
          </a:p>
        </p:txBody>
      </p:sp>
      <p:sp>
        <p:nvSpPr>
          <p:cNvPr id="16" name="Rule R4"/>
          <p:cNvSpPr/>
          <p:nvPr/>
        </p:nvSpPr>
        <p:spPr>
          <a:xfrm>
            <a:off x="5349240" y="1691640"/>
            <a:ext cx="146304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1214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Company criteria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26700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programme and CGPA</a:t>
            </a:r>
            <a:endParaRPr lang="en-US" sz="1200" dirty="0"/>
          </a:p>
        </p:txBody>
      </p:sp>
      <p:sp>
        <p:nvSpPr>
          <p:cNvPr id="20" name="Rule R5"/>
          <p:cNvSpPr/>
          <p:nvPr/>
        </p:nvSpPr>
        <p:spPr>
          <a:xfrm>
            <a:off x="6949440" y="1691640"/>
            <a:ext cx="146304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8660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1214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Attendance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26700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no absence debarment</a:t>
            </a:r>
            <a:endParaRPr lang="en-US" sz="1200" dirty="0"/>
          </a:p>
        </p:txBody>
      </p:sp>
      <p:sp>
        <p:nvSpPr>
          <p:cNvPr id="24" name="Rule R6"/>
          <p:cNvSpPr/>
          <p:nvPr/>
        </p:nvSpPr>
        <p:spPr>
          <a:xfrm>
            <a:off x="8549640" y="1691640"/>
            <a:ext cx="146304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21214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Offer type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26700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I / F / I+F limits</a:t>
            </a:r>
            <a:endParaRPr lang="en-US" sz="1200" dirty="0"/>
          </a:p>
        </p:txBody>
      </p:sp>
      <p:sp>
        <p:nvSpPr>
          <p:cNvPr id="28" name="Rule R7"/>
          <p:cNvSpPr/>
          <p:nvPr/>
        </p:nvSpPr>
        <p:spPr>
          <a:xfrm>
            <a:off x="10149840" y="1691640"/>
            <a:ext cx="146304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8700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287000" y="21214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Switching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287000" y="26700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A+ / A / B / C rules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Most severe outcome decides</a:t>
            </a:r>
            <a:endParaRPr lang="en-US" sz="1400" dirty="0"/>
          </a:p>
        </p:txBody>
      </p:sp>
      <p:sp>
        <p:nvSpPr>
          <p:cNvPr id="33" name="Outcome Allow"/>
          <p:cNvSpPr/>
          <p:nvPr/>
        </p:nvSpPr>
        <p:spPr>
          <a:xfrm>
            <a:off x="548640" y="397764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Allow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455371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All seven checks pass. The student may apply.</a:t>
            </a:r>
            <a:endParaRPr lang="en-US" sz="1300" dirty="0"/>
          </a:p>
        </p:txBody>
      </p:sp>
      <p:sp>
        <p:nvSpPr>
          <p:cNvPr id="36" name="Outcome Manual review"/>
          <p:cNvSpPr/>
          <p:nvPr/>
        </p:nvSpPr>
        <p:spPr>
          <a:xfrm>
            <a:off x="4297680" y="397764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Manual review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55371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A guideline conflict or missing data. Referred to the Placement Cell with the reason.</a:t>
            </a:r>
            <a:endParaRPr lang="en-US" sz="1300" dirty="0"/>
          </a:p>
        </p:txBody>
      </p:sp>
      <p:sp>
        <p:nvSpPr>
          <p:cNvPr id="39" name="Outcome Block"/>
          <p:cNvSpPr/>
          <p:nvPr/>
        </p:nvSpPr>
        <p:spPr>
          <a:xfrm>
            <a:off x="8046720" y="397764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Block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8321040" y="455371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A rule forbids participation. The exact rule and figures are shown.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5595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Conflict detection: an FTE holder may satisfy the switching rule while the offer-type rule forbids another FTE-only role. The engine flags this instead of guessing.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EXPLAINABILITY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shows its reasons</a:t>
            </a:r>
            <a:endParaRPr lang="en-US" sz="3200" dirty="0"/>
          </a:p>
        </p:txBody>
      </p:sp>
      <p:sp>
        <p:nvSpPr>
          <p:cNvPr id="4" name="Eligibility simulator screenshot frame"/>
          <p:cNvSpPr/>
          <p:nvPr/>
        </p:nvSpPr>
        <p:spPr>
          <a:xfrm>
            <a:off x="530352" y="1536192"/>
            <a:ext cx="6986016" cy="4379976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pic>
        <p:nvPicPr>
          <p:cNvPr id="5" name="Eligibility simulator screenshot" descr="Eligibility simulator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09560" y="16002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Example: NFSU-25-CS-003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103120"/>
            <a:ext cx="3703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Holds an FTE offer at ₹7.5 LPA (category B).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accent2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₹9 LPA drive: </a:t>
            </a:r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blocked — below 1.5× (₹11.25 LPA) and a second FTE-only role.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accent2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₹20 LPA I+F drive: </a:t>
            </a:r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allowed — all seven checks pass.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accent2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₹24 LPA F drive: </a:t>
            </a:r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manual review — guideline conflict surfaced to the Placement Cell.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512064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Students see the same explanation in their portal, so decisions are transparent and disputes fall.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INTERFACE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the NFSU visual language</a:t>
            </a:r>
            <a:endParaRPr lang="en-US" sz="3200" dirty="0"/>
          </a:p>
        </p:txBody>
      </p:sp>
      <p:sp>
        <p:nvSpPr>
          <p:cNvPr id="4" name="Sign-in screenshot frame"/>
          <p:cNvSpPr/>
          <p:nvPr/>
        </p:nvSpPr>
        <p:spPr>
          <a:xfrm>
            <a:off x="530352" y="1581912"/>
            <a:ext cx="5431536" cy="3408426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pic>
        <p:nvPicPr>
          <p:cNvPr id="5" name="Sign-in screenshot" descr="Sign-in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94960" cy="3371850"/>
          </a:xfrm>
          <a:prstGeom prst="rect">
            <a:avLst/>
          </a:prstGeom>
        </p:spPr>
      </p:pic>
      <p:sp>
        <p:nvSpPr>
          <p:cNvPr id="6" name="Student portal screenshot frame"/>
          <p:cNvSpPr/>
          <p:nvPr/>
        </p:nvSpPr>
        <p:spPr>
          <a:xfrm>
            <a:off x="6199632" y="1581912"/>
            <a:ext cx="5431536" cy="3408426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pic>
        <p:nvPicPr>
          <p:cNvPr id="7" name="Student portal screenshot" descr="Student portal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029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Sign-in: campus photograph, NFSU emblem, Student Placement Cell branding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5029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Student portal: every drive with an explained decision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Keyboard focus rings, skip link, labelled forms, responsive down to phone width, and an in-app “How it works” guide for every role.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PROCESS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placement workflow</a:t>
            </a:r>
            <a:endParaRPr lang="en-US" sz="3200" dirty="0"/>
          </a:p>
        </p:txBody>
      </p:sp>
      <p:sp>
        <p:nvSpPr>
          <p:cNvPr id="4" name="Step 1 marker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DDB55E"/>
          </a:solidFill>
          <a:ln w="12700">
            <a:solidFill>
              <a:srgbClr val="DDB5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tep connector 1"/>
          <p:cNvSpPr/>
          <p:nvPr/>
        </p:nvSpPr>
        <p:spPr>
          <a:xfrm>
            <a:off x="1325880" y="2057400"/>
            <a:ext cx="1325880" cy="0"/>
          </a:xfrm>
          <a:prstGeom prst="line">
            <a:avLst/>
          </a:prstGeom>
          <a:noFill/>
          <a:ln w="15875">
            <a:solidFill>
              <a:srgbClr val="D5DAE5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2606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Register and import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Validated Placement ID, programme and contact; duplicates rejected by blind index; all-or-nothing CSV import.</a:t>
            </a:r>
            <a:endParaRPr lang="en-US" sz="1300" dirty="0"/>
          </a:p>
        </p:txBody>
      </p:sp>
      <p:sp>
        <p:nvSpPr>
          <p:cNvPr id="9" name="Step 2 marker"/>
          <p:cNvSpPr/>
          <p:nvPr/>
        </p:nvSpPr>
        <p:spPr>
          <a:xfrm>
            <a:off x="2798064" y="1737360"/>
            <a:ext cx="640080" cy="640080"/>
          </a:xfrm>
          <a:prstGeom prst="ellipse">
            <a:avLst/>
          </a:prstGeom>
          <a:solidFill>
            <a:srgbClr val="DDB55E"/>
          </a:solidFill>
          <a:ln w="12700">
            <a:solidFill>
              <a:srgbClr val="DDB5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98064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tep connector 2"/>
          <p:cNvSpPr/>
          <p:nvPr/>
        </p:nvSpPr>
        <p:spPr>
          <a:xfrm>
            <a:off x="3575304" y="2057400"/>
            <a:ext cx="1325880" cy="0"/>
          </a:xfrm>
          <a:prstGeom prst="line">
            <a:avLst/>
          </a:prstGeom>
          <a:noFill/>
          <a:ln w="15875">
            <a:solidFill>
              <a:srgbClr val="D5DAE5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798064" y="2606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Verify eligibility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98064" y="32461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Coordinators confirm academic eligibility for their programme only.</a:t>
            </a:r>
            <a:endParaRPr lang="en-US" sz="1300" dirty="0"/>
          </a:p>
        </p:txBody>
      </p:sp>
      <p:sp>
        <p:nvSpPr>
          <p:cNvPr id="14" name="Step 3 marker"/>
          <p:cNvSpPr/>
          <p:nvPr/>
        </p:nvSpPr>
        <p:spPr>
          <a:xfrm>
            <a:off x="5047488" y="1737360"/>
            <a:ext cx="640080" cy="640080"/>
          </a:xfrm>
          <a:prstGeom prst="ellipse">
            <a:avLst/>
          </a:prstGeom>
          <a:solidFill>
            <a:srgbClr val="DDB55E"/>
          </a:solidFill>
          <a:ln w="12700">
            <a:solidFill>
              <a:srgbClr val="DDB5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tep connector 3"/>
          <p:cNvSpPr/>
          <p:nvPr/>
        </p:nvSpPr>
        <p:spPr>
          <a:xfrm>
            <a:off x="5824728" y="2057400"/>
            <a:ext cx="1325880" cy="0"/>
          </a:xfrm>
          <a:prstGeom prst="line">
            <a:avLst/>
          </a:prstGeom>
          <a:noFill/>
          <a:ln w="15875">
            <a:solidFill>
              <a:srgbClr val="D5DAE5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047488" y="2606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Run drives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47488" y="32461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Applications pass the engine; attendance is recorded per event; absences bar the next three drives.</a:t>
            </a:r>
            <a:endParaRPr lang="en-US" sz="1300" dirty="0"/>
          </a:p>
        </p:txBody>
      </p:sp>
      <p:sp>
        <p:nvSpPr>
          <p:cNvPr id="19" name="Step 4 marker"/>
          <p:cNvSpPr/>
          <p:nvPr/>
        </p:nvSpPr>
        <p:spPr>
          <a:xfrm>
            <a:off x="7296912" y="1737360"/>
            <a:ext cx="640080" cy="640080"/>
          </a:xfrm>
          <a:prstGeom prst="ellipse">
            <a:avLst/>
          </a:prstGeom>
          <a:solidFill>
            <a:srgbClr val="DDB55E"/>
          </a:solidFill>
          <a:ln w="12700">
            <a:solidFill>
              <a:srgbClr val="DDB5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96912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Step connector 4"/>
          <p:cNvSpPr/>
          <p:nvPr/>
        </p:nvSpPr>
        <p:spPr>
          <a:xfrm>
            <a:off x="8074152" y="2057400"/>
            <a:ext cx="1325880" cy="0"/>
          </a:xfrm>
          <a:prstGeom prst="line">
            <a:avLst/>
          </a:prstGeom>
          <a:noFill/>
          <a:ln w="15875">
            <a:solidFill>
              <a:srgbClr val="D5DAE5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296912" y="2606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Record offers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96912" y="32461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Category and deadline derived on the server; conflicts flagged for review; history preserved.</a:t>
            </a:r>
            <a:endParaRPr lang="en-US" sz="1300" dirty="0"/>
          </a:p>
        </p:txBody>
      </p:sp>
      <p:sp>
        <p:nvSpPr>
          <p:cNvPr id="24" name="Step 5 marker"/>
          <p:cNvSpPr/>
          <p:nvPr/>
        </p:nvSpPr>
        <p:spPr>
          <a:xfrm>
            <a:off x="9546336" y="1737360"/>
            <a:ext cx="640080" cy="640080"/>
          </a:xfrm>
          <a:prstGeom prst="ellipse">
            <a:avLst/>
          </a:prstGeom>
          <a:solidFill>
            <a:srgbClr val="DDB55E"/>
          </a:solidFill>
          <a:ln w="12700">
            <a:solidFill>
              <a:srgbClr val="DDB5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46336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546336" y="2606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 and audit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546336" y="32461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Live dashboards, course reports, controlled export and a verifiable audit trail.</a:t>
            </a:r>
            <a:endParaRPr lang="en-US" sz="1300" dirty="0"/>
          </a:p>
        </p:txBody>
      </p:sp>
      <p:sp>
        <p:nvSpPr>
          <p:cNvPr id="28" name="Workflow footnote"/>
          <p:cNvSpPr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solidFill>
            <a:schemeClr val="bg2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Students apply from their portal; recruiters shortlist only their own applicants; the Placement Cell records offers and resolves flags.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ARCHITECTURE AND TECH STACK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auditable stack with security at every layer</a:t>
            </a:r>
            <a:endParaRPr lang="en-US" sz="3200" dirty="0"/>
          </a:p>
        </p:txBody>
      </p:sp>
      <p:sp>
        <p:nvSpPr>
          <p:cNvPr id="4" name="Layer Browser"/>
          <p:cNvSpPr/>
          <p:nvPr/>
        </p:nvSpPr>
        <p:spPr>
          <a:xfrm>
            <a:off x="548640" y="1600200"/>
            <a:ext cx="658368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Browser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6002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Server-rendered HTML · strict CSP · no inline script · CSRF tokens</a:t>
            </a:r>
            <a:endParaRPr lang="en-US" sz="1300" dirty="0"/>
          </a:p>
        </p:txBody>
      </p:sp>
      <p:sp>
        <p:nvSpPr>
          <p:cNvPr id="7" name="Layer Flask application"/>
          <p:cNvSpPr/>
          <p:nvPr/>
        </p:nvSpPr>
        <p:spPr>
          <a:xfrm>
            <a:off x="548640" y="2468880"/>
            <a:ext cx="658368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468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Flask application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4688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Routes · session manager · RBAC and object-level checks · validation</a:t>
            </a:r>
            <a:endParaRPr lang="en-US" sz="1300" dirty="0"/>
          </a:p>
        </p:txBody>
      </p:sp>
      <p:sp>
        <p:nvSpPr>
          <p:cNvPr id="10" name="Layer Domain services"/>
          <p:cNvSpPr/>
          <p:nvPr/>
        </p:nvSpPr>
        <p:spPr>
          <a:xfrm>
            <a:off x="548640" y="3337560"/>
            <a:ext cx="658368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337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Domain services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3375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Students · drives · offers · reporting · audit writer</a:t>
            </a:r>
            <a:endParaRPr lang="en-US" sz="1300" dirty="0"/>
          </a:p>
        </p:txBody>
      </p:sp>
      <p:sp>
        <p:nvSpPr>
          <p:cNvPr id="13" name="Layer Policy engine"/>
          <p:cNvSpPr/>
          <p:nvPr/>
        </p:nvSpPr>
        <p:spPr>
          <a:xfrm>
            <a:off x="548640" y="4206240"/>
            <a:ext cx="6583680" cy="731520"/>
          </a:xfrm>
          <a:prstGeom prst="rect">
            <a:avLst/>
          </a:prstGeom>
          <a:solidFill>
            <a:schemeClr val="bg2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06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Policy engine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42062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Pure Python function — no I/O, fully unit-tested</a:t>
            </a:r>
            <a:endParaRPr lang="en-US" sz="1300" dirty="0"/>
          </a:p>
        </p:txBody>
      </p:sp>
      <p:sp>
        <p:nvSpPr>
          <p:cNvPr id="16" name="Layer SQLite store"/>
          <p:cNvSpPr/>
          <p:nvPr/>
        </p:nvSpPr>
        <p:spPr>
          <a:xfrm>
            <a:off x="548640" y="5074920"/>
            <a:ext cx="658368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74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SQLite store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507492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Parameterised SQL · AES-256-GCM fields · append-only audit triggers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</a:rPr>
              <a:t>Keys (field, index, audit, backup, session) are held outside the database and injected from the environment in production.</a:t>
            </a:r>
            <a:endParaRPr lang="en-US" sz="1100" dirty="0"/>
          </a:p>
        </p:txBody>
      </p:sp>
      <p:graphicFrame>
        <p:nvGraphicFramePr>
          <p:cNvPr id="11" name="Tech stac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60020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3.12+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3 · Jinja2 (auto-escaping)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cryptography — AES-GCM, HMAC-SHA256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scrypt (memory-hard)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TOTP, RFC 6238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(PostgreSQL-ready SQL)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— 86 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NFSU style · Poppins, Open Sans · WCAG-minded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CYBERSECURITY AND PRIVACY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required control, implemented</a:t>
            </a:r>
            <a:endParaRPr lang="en-US" sz="3200" dirty="0"/>
          </a:p>
        </p:txBody>
      </p:sp>
      <p:graphicFrame>
        <p:nvGraphicFramePr>
          <p:cNvPr id="12" name="Security contro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124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in Placement Sahaay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scrypt hashing, TOTP MFA with replay protection, 5-attempt lockout, per-IP rate limit, uniform timing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roles; programme-scoped coordinators; company-scoped recruiters; object-level checks on every 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AES-256-GCM for contact data bound to record and column; masked by default; reveal is logged; HTTPS + HSTS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and query 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 allow-list validation, parameterised SQL only, auto-escaped templates, strict CSP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and integrity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 hash-chained, append-only log; unique IDs; blind-index duplicate detection; optimistic locking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Server-side, hashed tokens; rotation on login; 15-min idle and 8-h limits; UA binding; SameSite=Strict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and export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Encrypted, authenticated backups with restore test; exports role-gated, reasoned, fingerprinted, formula-safe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and retention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fields; recruiters see masked email only; retention-based anonymisation keeps statistics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THE SECURITY CHALLENGE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cannot game the system</a:t>
            </a:r>
            <a:endParaRPr lang="en-US" sz="3200" dirty="0"/>
          </a:p>
        </p:txBody>
      </p:sp>
      <p:sp>
        <p:nvSpPr>
          <p:cNvPr id="4" name="Attack 1"/>
          <p:cNvSpPr/>
          <p:nvPr/>
        </p:nvSpPr>
        <p:spPr>
          <a:xfrm>
            <a:off x="548640" y="1600200"/>
            <a:ext cx="11064240" cy="941832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3291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Change own status or package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51960" y="1600200"/>
            <a:ext cx="5669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Students have no write permission on records or offers. Placement status is derived from offer history, never stored as an editable field.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12680" y="1600200"/>
            <a:ext cx="1417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403, logged</a:t>
            </a:r>
            <a:endParaRPr lang="en-US" sz="1300" dirty="0"/>
          </a:p>
        </p:txBody>
      </p:sp>
      <p:sp>
        <p:nvSpPr>
          <p:cNvPr id="8" name="Attack 2"/>
          <p:cNvSpPr/>
          <p:nvPr/>
        </p:nvSpPr>
        <p:spPr>
          <a:xfrm>
            <a:off x="548640" y="2679192"/>
            <a:ext cx="11064240" cy="941832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79192"/>
            <a:ext cx="3291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Bypass switching rules with a forged request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2679192"/>
            <a:ext cx="5669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Every application is re-evaluated on the server. The Apply button is a convenience, not a control.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12680" y="2679192"/>
            <a:ext cx="1417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Refused, logged</a:t>
            </a:r>
            <a:endParaRPr lang="en-US" sz="1300" dirty="0"/>
          </a:p>
        </p:txBody>
      </p:sp>
      <p:sp>
        <p:nvSpPr>
          <p:cNvPr id="12" name="Attack 3"/>
          <p:cNvSpPr/>
          <p:nvPr/>
        </p:nvSpPr>
        <p:spPr>
          <a:xfrm>
            <a:off x="548640" y="3758184"/>
            <a:ext cx="11064240" cy="941832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758184"/>
            <a:ext cx="3291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another student's record (IDOR)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758184"/>
            <a:ext cx="5669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The portal takes the student's identity from the session, never from the URL. Staff routes enforce object-level scope.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12680" y="3758184"/>
            <a:ext cx="1417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403, logged</a:t>
            </a:r>
            <a:endParaRPr lang="en-US" sz="1300" dirty="0"/>
          </a:p>
        </p:txBody>
      </p:sp>
      <p:sp>
        <p:nvSpPr>
          <p:cNvPr id="16" name="Attack 4"/>
          <p:cNvSpPr/>
          <p:nvPr/>
        </p:nvSpPr>
        <p:spPr>
          <a:xfrm>
            <a:off x="548640" y="4837176"/>
            <a:ext cx="11064240" cy="941832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837176"/>
            <a:ext cx="3291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Mass assignment or tampering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251960" y="4837176"/>
            <a:ext cx="5669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Each role has a field allow-list; Placement IDs are immutable; category and deadline are computed server-side.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12680" y="4837176"/>
            <a:ext cx="1417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Ignored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INTEGRITY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trail</a:t>
            </a:r>
            <a:endParaRPr lang="en-US" sz="3200" dirty="0"/>
          </a:p>
        </p:txBody>
      </p:sp>
      <p:sp>
        <p:nvSpPr>
          <p:cNvPr id="4" name="Audit block 1"/>
          <p:cNvSpPr/>
          <p:nvPr/>
        </p:nvSpPr>
        <p:spPr>
          <a:xfrm>
            <a:off x="548640" y="1691640"/>
            <a:ext cx="2468880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#51 auth.login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76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actor · time · before/after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HMAC(key, prev ‖ entry)</a:t>
            </a:r>
            <a:endParaRPr lang="en-US" sz="1200" dirty="0"/>
          </a:p>
        </p:txBody>
      </p:sp>
      <p:sp>
        <p:nvSpPr>
          <p:cNvPr id="8" name="Chain link 1"/>
          <p:cNvSpPr/>
          <p:nvPr/>
        </p:nvSpPr>
        <p:spPr>
          <a:xfrm>
            <a:off x="3063240" y="2350008"/>
            <a:ext cx="274320" cy="0"/>
          </a:xfrm>
          <a:prstGeom prst="line">
            <a:avLst/>
          </a:prstGeom>
          <a:noFill/>
          <a:ln w="19050">
            <a:solidFill>
              <a:srgbClr val="002147"/>
            </a:solidFill>
            <a:prstDash val="solid"/>
            <a:tailEnd type="triangle"/>
          </a:ln>
        </p:spPr>
      </p:sp>
      <p:sp>
        <p:nvSpPr>
          <p:cNvPr id="9" name="Audit block 2"/>
          <p:cNvSpPr/>
          <p:nvPr/>
        </p:nvSpPr>
        <p:spPr>
          <a:xfrm>
            <a:off x="3383280" y="1691640"/>
            <a:ext cx="2468880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#52 offer.update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176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actor · time · before/after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HMAC(key, prev ‖ entry)</a:t>
            </a:r>
            <a:endParaRPr lang="en-US" sz="1200" dirty="0"/>
          </a:p>
        </p:txBody>
      </p:sp>
      <p:sp>
        <p:nvSpPr>
          <p:cNvPr id="13" name="Chain link 2"/>
          <p:cNvSpPr/>
          <p:nvPr/>
        </p:nvSpPr>
        <p:spPr>
          <a:xfrm>
            <a:off x="5897880" y="2350008"/>
            <a:ext cx="274320" cy="0"/>
          </a:xfrm>
          <a:prstGeom prst="line">
            <a:avLst/>
          </a:prstGeom>
          <a:noFill/>
          <a:ln w="19050">
            <a:solidFill>
              <a:srgbClr val="002147"/>
            </a:solidFill>
            <a:prstDash val="solid"/>
            <a:tailEnd type="triangle"/>
          </a:ln>
        </p:spPr>
      </p:sp>
      <p:sp>
        <p:nvSpPr>
          <p:cNvPr id="14" name="Audit block 3"/>
          <p:cNvSpPr/>
          <p:nvPr/>
        </p:nvSpPr>
        <p:spPr>
          <a:xfrm>
            <a:off x="6217920" y="1691640"/>
            <a:ext cx="2468880" cy="1325880"/>
          </a:xfrm>
          <a:prstGeom prst="rect">
            <a:avLst/>
          </a:prstGeom>
          <a:solidFill>
            <a:schemeClr val="bg2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#53 policy.update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176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actor · time · before/after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HMAC(key, prev ‖ entry)</a:t>
            </a:r>
            <a:endParaRPr lang="en-US" sz="1200" dirty="0"/>
          </a:p>
        </p:txBody>
      </p:sp>
      <p:sp>
        <p:nvSpPr>
          <p:cNvPr id="18" name="Chain link 3"/>
          <p:cNvSpPr/>
          <p:nvPr/>
        </p:nvSpPr>
        <p:spPr>
          <a:xfrm>
            <a:off x="8732520" y="2350008"/>
            <a:ext cx="274320" cy="0"/>
          </a:xfrm>
          <a:prstGeom prst="line">
            <a:avLst/>
          </a:prstGeom>
          <a:noFill/>
          <a:ln w="19050">
            <a:solidFill>
              <a:srgbClr val="002147"/>
            </a:solidFill>
            <a:prstDash val="solid"/>
            <a:tailEnd type="triangle"/>
          </a:ln>
        </p:spPr>
      </p:sp>
      <p:sp>
        <p:nvSpPr>
          <p:cNvPr id="19" name="Audit block 4"/>
          <p:cNvSpPr/>
          <p:nvPr/>
        </p:nvSpPr>
        <p:spPr>
          <a:xfrm>
            <a:off x="9052560" y="1691640"/>
            <a:ext cx="2468880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3544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#54 export.csv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176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actor · time · before/after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HMAC(key, prev ‖ entry)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Detects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34290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Editing, deleting, inserting or reordering any entry breaks every later link.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Prevents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42062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Database triggers reject UPDATE and DELETE on the log table.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983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Resists forgery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2377440" y="49834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The HMAC key lives outside the database, so file access alone cannot rebuild the chain.</a:t>
            </a:r>
            <a:endParaRPr lang="en-US" sz="1300" dirty="0"/>
          </a:p>
        </p:txBody>
      </p:sp>
      <p:sp>
        <p:nvSpPr>
          <p:cNvPr id="29" name="Audit trail screenshot frame"/>
          <p:cNvSpPr/>
          <p:nvPr/>
        </p:nvSpPr>
        <p:spPr>
          <a:xfrm>
            <a:off x="6931152" y="3319272"/>
            <a:ext cx="4700016" cy="2951226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pic>
        <p:nvPicPr>
          <p:cNvPr id="30" name="Audit trail screenshot" descr="Audit trail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3337560"/>
            <a:ext cx="4663440" cy="29146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LEAST PRIVILEGE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roles, each scoped to what it needs</a:t>
            </a:r>
            <a:endParaRPr lang="en-US" sz="3200" dirty="0"/>
          </a:p>
        </p:txBody>
      </p:sp>
      <p:graphicFrame>
        <p:nvGraphicFramePr>
          <p:cNvPr id="15" name="Role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student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programme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applicants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contact 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Reveal, logged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Reveal, logged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Reveal, logged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Masked 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eligibility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programme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offers and attendance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Shortlist candidates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drives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contact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contact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policy, users, backups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to drives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Engine-checked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TESTING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automated tests, all passing</a:t>
            </a:r>
            <a:endParaRPr lang="en-US" sz="3200" dirty="0"/>
          </a:p>
        </p:txBody>
      </p:sp>
      <p:graphicFrame>
        <p:nvGraphicFramePr>
          <p:cNvPr id="4" name="Tests chart" descr=""/>
          <p:cNvGraphicFramePr/>
          <p:nvPr/>
        </p:nvGraphicFramePr>
        <p:xfrm>
          <a:off x="548640" y="155448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7665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Attacks tested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205740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SQL injection in login, search and filters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Stored XSS and markup in names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CSRF and cross-origin requests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IDOR, privilege escalation and mass assignment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Session fixation, replay, idle timeout, hijack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Brute force, lockout and rate limiting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MFA code replay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CSV formula injection and oversized uploads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Audit-log tampering and backup corruption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Ciphertext swapping between records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PRACTICAL IMPACT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 Placement Cell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687A"/>
                </a:solidFill>
              </a:rPr>
              <a:t>Before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178040" y="1554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With Placement Sahaay</a:t>
            </a:r>
            <a:endParaRPr lang="en-US" sz="1300" dirty="0"/>
          </a:p>
        </p:txBody>
      </p:sp>
      <p:sp>
        <p:nvSpPr>
          <p:cNvPr id="6" name="Impact row 1"/>
          <p:cNvSpPr/>
          <p:nvPr/>
        </p:nvSpPr>
        <p:spPr>
          <a:xfrm>
            <a:off x="548640" y="1920240"/>
            <a:ext cx="11064240" cy="594360"/>
          </a:xfrm>
          <a:prstGeom prst="rect">
            <a:avLst/>
          </a:prstGeom>
          <a:solidFill>
            <a:schemeClr val="bg2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20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Rule checks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9202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87A"/>
                </a:solidFill>
              </a:rPr>
              <a:t>Manual, inconsistent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9202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Automatic, explained, identical for every student</a:t>
            </a:r>
            <a:endParaRPr lang="en-US" sz="1300" dirty="0"/>
          </a:p>
        </p:txBody>
      </p:sp>
      <p:sp>
        <p:nvSpPr>
          <p:cNvPr id="10" name="Impact row 2"/>
          <p:cNvSpPr/>
          <p:nvPr/>
        </p:nvSpPr>
        <p:spPr>
          <a:xfrm>
            <a:off x="548640" y="2606040"/>
            <a:ext cx="11064240" cy="59436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Policy disputes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606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87A"/>
                </a:solidFill>
              </a:rPr>
              <a:t>Argued from memory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6060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Settled by a rule-by-rule explanation</a:t>
            </a:r>
            <a:endParaRPr lang="en-US" sz="1300" dirty="0"/>
          </a:p>
        </p:txBody>
      </p:sp>
      <p:sp>
        <p:nvSpPr>
          <p:cNvPr id="14" name="Impact row 3"/>
          <p:cNvSpPr/>
          <p:nvPr/>
        </p:nvSpPr>
        <p:spPr>
          <a:xfrm>
            <a:off x="548640" y="3291840"/>
            <a:ext cx="11064240" cy="594360"/>
          </a:xfrm>
          <a:prstGeom prst="rect">
            <a:avLst/>
          </a:prstGeom>
          <a:solidFill>
            <a:schemeClr val="bg2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291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Sensitive data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2918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87A"/>
                </a:solidFill>
              </a:rPr>
              <a:t>Shared in open spreadsheets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32918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Encrypted, role-scoped, every view logged</a:t>
            </a:r>
            <a:endParaRPr lang="en-US" sz="1300" dirty="0"/>
          </a:p>
        </p:txBody>
      </p:sp>
      <p:sp>
        <p:nvSpPr>
          <p:cNvPr id="18" name="Impact row 4"/>
          <p:cNvSpPr/>
          <p:nvPr/>
        </p:nvSpPr>
        <p:spPr>
          <a:xfrm>
            <a:off x="548640" y="3977640"/>
            <a:ext cx="11064240" cy="59436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Placement statistics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39776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87A"/>
                </a:solidFill>
              </a:rPr>
              <a:t>Offers counted as placements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9776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Unique students, CTC and stipend kept separate</a:t>
            </a:r>
            <a:endParaRPr lang="en-US" sz="1300" dirty="0"/>
          </a:p>
        </p:txBody>
      </p:sp>
      <p:sp>
        <p:nvSpPr>
          <p:cNvPr id="22" name="Impact row 5"/>
          <p:cNvSpPr/>
          <p:nvPr/>
        </p:nvSpPr>
        <p:spPr>
          <a:xfrm>
            <a:off x="548640" y="4663440"/>
            <a:ext cx="11064240" cy="594360"/>
          </a:xfrm>
          <a:prstGeom prst="rect">
            <a:avLst/>
          </a:prstGeom>
          <a:solidFill>
            <a:schemeClr val="bg2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663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Accountability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46634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87A"/>
                </a:solidFill>
              </a:rPr>
              <a:t>No record of changes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6634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Verifiable audit trail with before/after values</a:t>
            </a:r>
            <a:endParaRPr lang="en-US" sz="1300" dirty="0"/>
          </a:p>
        </p:txBody>
      </p:sp>
      <p:sp>
        <p:nvSpPr>
          <p:cNvPr id="26" name="Impact row 6"/>
          <p:cNvSpPr/>
          <p:nvPr/>
        </p:nvSpPr>
        <p:spPr>
          <a:xfrm>
            <a:off x="548640" y="5349240"/>
            <a:ext cx="11064240" cy="59436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349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Deadlines and absences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063240" y="53492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87A"/>
                </a:solidFill>
              </a:rPr>
              <a:t>Tracked by hand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53492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Automatic expiry, debarment and review flags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HONEST SCOPE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4" name="Limitations card"/>
          <p:cNvSpPr/>
          <p:nvPr/>
        </p:nvSpPr>
        <p:spPr>
          <a:xfrm>
            <a:off x="548640" y="1600200"/>
            <a:ext cx="5440680" cy="356616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Prototype limitations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SQLite and an in-process rate limiter suit a single server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Compensation fields are protected by access control, not field encryption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Development keys are generated locally; production needs a secrets manager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Email and SMS notifications are not yet integrated</a:t>
            </a:r>
            <a:endParaRPr lang="en-US" sz="1400" dirty="0"/>
          </a:p>
        </p:txBody>
      </p:sp>
      <p:sp>
        <p:nvSpPr>
          <p:cNvPr id="7" name="Roadmap card"/>
          <p:cNvSpPr/>
          <p:nvPr/>
        </p:nvSpPr>
        <p:spPr>
          <a:xfrm>
            <a:off x="6172200" y="1600200"/>
            <a:ext cx="5440680" cy="3566160"/>
          </a:xfrm>
          <a:prstGeom prst="rect">
            <a:avLst/>
          </a:prstGeom>
          <a:solidFill>
            <a:schemeClr val="bg2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3172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Move to PostgreSQL with TDE and Redis-backed rate limits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Institutional SSO (SAML / OIDC) with mandatory MFA for staff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Key management service with scheduled key rotation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Deadline reminders and recruiter self-service drive requests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External penetration test before rollout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The design does not change on the path to production — components are swapped for institution-grade equivalents.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FSU emblem" descr="National Forensic Sciences University em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914400" cy="91440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417320"/>
            <a:ext cx="10241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applied consistently. Data protected by design.</a:t>
            </a: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4290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Run it: pip install -r requirements.txt  ·  python scripts/seed.py  ·  python run.py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Demo accounts: admin · officer · coord.dfis · recruiter.microsoft · student.cs003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cement Sahaay">
  <a:themeElements>
    <a:clrScheme name="Placement Sahaay">
      <a:dk1>
        <a:srgbClr val="1B2333"/>
      </a:dk1>
      <a:lt1>
        <a:srgbClr val="FFFFFF"/>
      </a:lt1>
      <a:dk2>
        <a:srgbClr val="002147"/>
      </a:dk2>
      <a:lt2>
        <a:srgbClr val="F3F5FA"/>
      </a:lt2>
      <a:accent1>
        <a:srgbClr val="002147"/>
      </a:accent1>
      <a:accent2>
        <a:srgbClr val="41444B"/>
      </a:accent2>
      <a:accent3>
        <a:srgbClr val="8E1C1C"/>
      </a:accent3>
      <a:accent4>
        <a:srgbClr val="6F4C00"/>
      </a:accent4>
      <a:accent5>
        <a:srgbClr val="22513A"/>
      </a:accent5>
      <a:accent6>
        <a:srgbClr val="8A6A24"/>
      </a:accent6>
      <a:hlink>
        <a:srgbClr val="002147"/>
      </a:hlink>
      <a:folHlink>
        <a:srgbClr val="41444B"/>
      </a:folHlink>
    </a:clrScheme>
    <a:fontScheme name="Placement Sahaa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ISFCR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Placement Sahaay — Secure, Policy-Driven Student Placement</dc:title>
  <dc:subject>PptxGenJS Presentation</dc:subject>
  <dc:creator>Placement Sahaay team</dc:creator>
  <cp:lastModifiedBy>Placement Sahaay team</cp:lastModifiedBy>
  <cp:revision>1</cp:revision>
  <dcterms:created xsi:type="dcterms:W3CDTF">2026-10-13T11:13:33Z</dcterms:created>
  <dcterms:modified xsi:type="dcterms:W3CDTF">2026-10-13T11:13:33Z</dcterms:modified>
</cp:coreProperties>
</file>